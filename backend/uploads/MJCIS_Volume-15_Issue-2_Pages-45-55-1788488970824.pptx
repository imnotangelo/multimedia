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MJCIS Vol.15 No.2 Dec 2019
`
Mansoura Journal of Computers and Information Sciences
Traffic Violations Management System Using
Blockchain Technology
Zahraa Tarek Mohamed AL-Rahmawy A.S. Tolba
Faculty of Computers and Faculty of Computers and Faculty of Computers and
Information systems, C.S dep. Information systems, C.S dep. Information systems, C.S dep.
Mansoura University, Egypt Mansoura University, Egypt Mansoura University, Egypt
Zahraatarek@mans.edu.eg mrahmawy@mans.edu.eg ast@astolba.com
Blockchain and smart contract are proposed. Blockchain is
ABSTRACT
distributed not centralized, inclusive not exclusive, open not
This paper presents the implementation of a traffic violation
hidden, immutable and secure. Blockchain gives us new
management system. A vehicle tracking system uses the GPS,
capabilities to make value in society. Blockchain technology’s
GSM and a microcontroller to detect speed violations on
core component is a protocol that enables data exchange
roads. Any violation is sent to a central database.
among multiple parties inside a network without the need for
Payments can be performed off-line; without involving a third
third party, as network members act with encrypted identities
party during payment, or on-line; contacting an intermediate
and directly with each other using peer-to-peer
server for each payment. In this paper, we focus on using on-
communication. Each transaction in the network is added to
line payment without third party by using a new technology
called blockchain for the authentication and authorization an immutable transaction chain that is distributed to all
purposes in case of traffic violations payment. The network nodes [1].
contribution of this paper is providing a model of electronic
payment for traffic violations to enhance two important A Blockchain can be described as a distributed transaction
factors; trust and security of the e- payment system.
ledger that allow adding new information, while the previous
Blockchain as a shared ledger holds a many set of entities that information, kept in blocks, cannot be edited or modified.
faithfully records a series of transactions combined together This is often accomplished by exploitation cryptography to
by using a smart contract platform for embedding scripts that link the contents of the recently added block with every block
run across the network and enables adding new entries to that
added before it, such that any modification to the contents of a
ledger. Blockchain technology is used in this paper for
current block in the Blockchain would affect the data in all
securing traffic violations management. Using the Blockchain
blocks coming after that [2]. The Blockchain is used to record
guarantees highly secure d traffic violations payment as no
financial transactions and everything of value, so it is
hacker can change the balance in driver's wallet or a vehicle
property papers in a network around the world without the considered an incorruptible digital ledger of transactions [3].
requirement for a central management, as all transactions are
recorded in all copies distributed amon g all parties in the Figure 1 is a detailed diagram that describes the Blockchain
network, where each party has the same copy of the ledger. transactions. Blockchain wallet is a concept based on the
The proposed model should reduce the response times of
Blockchain, where participants can deal with their balances by
violation requests and payment at any time and from any
using Blockchain cryptocurrencies. Each user of a Blockchain
place.
wallet is provided with a Wallet ID when the wallet is created,
Keywords this ID is a unique identifier similar to a bank account
Internet of Things, Fog computing, Blockchain, Smart number. Wallet holders can access the electronic wallet
contract, Traffic violations. whether by logging into the Blockchain website, or by
downloading and accessing a mobile application related to it.
1. INTRODUCTION
The receive/send method is similar to receiving or sending
Traffic violations recording and processing is one of the
funds through PayPal , however it uses cryptocurrency instead
traffic management issues that need to be managed in a quick
of real currencies [4].
and secure way. In this paper, traffic violations processing is
done using a smart contract based on the Blockchain
technology to ensure security, integrity and validity of vehicle
information in order to increase the efficiency of violation
processing by both the driver and the government with
mitigation from fraud risks.
Because of the rapid technology advancement and the digital
disruption, enterprises face critical business challenges
including securing product data and supporting the move to
connected smart products and service business models, so Fig 1: Blockchain Transactions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2:
MJCIS Vol.15 No.2 Dec 2019
In this paper, traffic violations are recorded in an electronic primary time is conferred. The purpose to produce the
way using the Blockchain ledger rather than using a notebook, Blockchain based mostly security so as to get rid of the
unskillfulness of the present strategies. Simulation results
where fog servers are distributed across roads with cameras
showed that the overheads (in terms of processing time, traffic
attached to them to detect and record each violation. The
and energy consumption) produced by the projected approach
violations may be: speed limit violation, accidents or lack in
are insignificant compared to its security and privacy
vehicle property papers. These violations are saved in
requirements [10].
decentralized network that enable all police men to see the
W. Egbertsen and others introduced recording the ownership
violations of each driver to help them in payment of violation
rights of a music that is used as a potential use case in the
fees, or driver can pay for violation from any place at any
Blockchain. The payment for music owners is enforced using
time in his country as electronic payment using Blockchain.
the smart contract once a music is used for commercial or
industrial purposes. It further ensures the distribution of
The remainder of this paper is addressed as follows: Section II payment between the music's owners. Ujo is a company that
presents the related works of real time applications using explores the use of Blockchain based on smart contracts
Blockchain technology. Section III describes the process of within the music business [11].
speed violation detection. Section IV lists the techniques used
Thabit and others introduced a model for reduction of traffic
for traffic violations payment system. In Section V, the congestion using fog computing and its relevancy to each
framework of the proposed traffic violations model is cloud computing and the internet of things (IoT). Obtaining,
analyzing, and processing traffic information at traffic
provided. In Section VI, experiments and results are
junctions are tasks assigned to fog nodes. The results show
discussed. In the end, Section VII addressed the conclusions
that additional reliable traffic is carried out when reducing
of our work and presented the future work.
congestion through symmetric traffic distribution by
concerning average rate of traffic flow among the fog nodes
2. RELATED WORKS [12].
Yong and Wang conducted an early study of Blockchain
Emily Su spoke about recording patient data on a distributed
based on Intelligent Transportation Systems (ITS). They
ledger using Blockchain technology that will enable
discussed the Blockchain as one of the trusted and ensured
completely different stakeholders conditional access to one
architectures for building PTMS (parallel transportation source of truth. As every interaction with a patient’s health
management systems]; they conjointly bestowed a case study information are often recorded on a ledger as a transaction
for real time ride-sharing services based on Blockchain [5]. seen by all in the network. This makes access to a patient’s
health data safer (patient information is encrypted). The smart
Maher and Aad presented a use case of smart contracts based metering of electricity generated from an individual’s solar
on Blockchain to enable nodes to share data through Internet panels is enabled using Blockchain technology, these
to access or share completely different digital features without measures are recorded, listed and settled on a ledger and there
a trusty third party. Numerous corporations examine this use are different cases in [13].
case. For instance, Slock.it is a German company that uses
Nitin Narkhede discussed how traffic police could prevent
Ethereum on smart contracts for marketing, renting or sharing
many of ‘unknown’ violations if violation-reporting rights are
something like marketing a car without a reliable third party
provided to the public by adopting Blockchain. Based on
in this process[6].
mobile application, anyone can notify a proof of traffic
Kristin Houser wrote about Porsche who researched many violation and time of happening to Blockchain even in an
uses for Blockchain through the work with Berlin-based absence of Traffic policeman [14].
startup called XAIN: Blockchain is used to unlock vehicles of
One of the first flight delay insurances is given exploitation
drivers. In addition, vehicle owners pay the electricity
using smart contract. This insurance covers flight delays. The
invoices using Blockchain to charge electric vehicles as a
terms of the insurance are clear, and the compensation
smart contract on the Blockchain took the suitable amount of
procedure is automatically. The client will select for what best
cash money from your account and sent it to the charging
fit with his needs. Flight and traffic databases that record
station. It is noted that autonomous driving systems could be
flight’s standing, are connected to the smart contract. The
boosted using Blockchain and eco-friendly driving is
refund method in this procedure is triggered once the system
encouraged [7].
notices a delay of 2 hours or more [15].
Oberlandesgericht Stuttgart discussed that the use of video
According to all these applications that illustrate the uses and
material from dashboard cameras is permissible as evidence to
importance of blockchain, so blockchain is used as a shared
prosecute traffic violations after the ruling of a German
repository among different parties in the proposed platform
appellate court to accept video evidence for prosecuting traffic
and contains a permanent immutable log of events and
violations. Given this development, it is more crucial than
processes for the future analysis and accountability. Also,
ever to have secure means for proving that the video footage
Smart Contracts are used in the proposed platform to manage
has not been manipulated after the accident [8]. So B. Gipp
relationships among different parties of the platform.
and others presented an application that converts a video
camera enabled smartphone into a cost-effective tamperproof
3. SPEED VIOLATION DETECTION
dashboard camera (dash cam), the video file’s hash is
In this paper, vehicle speed tracking system is benefit for the
permanently secured in the tamperproof decentralized public
smart traffic management in providing the necessary data of
ledger that is the Blockchain [9].
vehicles for electronic violation payment. Since the proposed
Ali Dorri proposed analysis study about decentralized
system can show the positions of vehicles in owners mobile
Blockchain methodology that is used to form IoT system safer
phone, so that they can expect the future processes such as
and privacy. The idea of Blockchain in smart houses for the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3:
MJCIS Vol.15 No.2 Dec 2019
violation payment in case of recording penalty. This tracking In the proposed system, Arduino is used for controlling whole
system can store the whole data where the vehicle had gone, the process with a GPS Receiver and GSM module. GPS
what speed it runs, how much time it takes for them to come Receiver is used for detecting speeds of the vehicle, GSM
to a particular stop, and can create whole data analysis. This module is used for sending the speeds to user by SMS. And an
system is used to data capture, data storage, data analysis and optional 16x2 LCD is also used for displaying status messages
finally data transfer. or speeds. GPS consists of a network of 24 satellites located into
orbit. Once the vehicle position has been determined, the GPS
The proposed system uses Arduino, GPS and GSM to track unit can determine other information like, speed, distance to
and provide speed information to user and to blockchain destination, time and other. GPS module sends the data related
database. Vehicles speeds are updated minute by minute by to tracking position in real time, and it sends so many data in
GPS module. Microcontroller is the central processing unit NMEA format. NMEA format consists of several sentences, in
CPU to measure vehicle speed. Arduino gets the coordinates which we only need one sentence. This sentence starts from
from GPS modem and compute speed, then send Text SMS to $GPGGA and contains the coordinates, time and other useful
the driver in case of violation recording. GSM modem is used
information as shown in Figure 4.
to send this information via SMS to the owner of the vehicle.
Figure 2 illustrates HW-based violation detection using IOT
devices; Satellite Global Position System (GPS), Global
System for Mobile communication (GSM). The speed is
calculated using ready library called TinyGPSPlus , The
computed speed is compared with standard speeds saved in
fog server. If the computed one is larger than standard speed,
then this speed is traffic violation, else it is valid speed.
Fig 4: GPS satellites
Arduino reads speed messages and compare it with predefined
speed message in Arduino. If any match occurs then Arduino
reads speeds by extracting $GPGGA string from GPS module.
This message contains the speeds of vehicle to driver mobile
. The GSM modem is a specialized type of modem which
accepts a SIM card operates on a subscribers mobile number
over a network. Software Serial is a library of Arduino which
enables serial data communication through other digital pins
of Arduino. Figure 5 sh ows an example of SMS message
using sim 900 of the GSM module.
Fig 2: Violation Detection System Layout
Violation is recorded in blockchain decentralized database to
be used after that in the proposed automated violations
payment system in this paper, as each record in blockchain
can record the whole history of each vehicle from speed
capturing until violat ion payment. Also, stored Violations in
blockchain are useful for further uses like vehicle licenses,
property transfer and so on. Figure 3 describes the block
diagram of the proposed module to measure speed using IOT
Fig 5: Sent message using GSM
devices.
The GPS, GSM, LCD and Arduino connections of proposed
methodology to calculate speed in real time experiment for
vehicle tracking system are shown in Figure 6.
Fig 3: Block diagram of the proposed methodology
Fig 6: Proposed system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4:
MJCIS Vol.15 No.2 Dec 2019
The proposed system shows the speed of vehicle on the LCD process by traffic management department. Tables 1 ,2 lists
connected to it to make sure the working condition of the the driver line of two trip ; trip 1 from Mansoura to Mahalla
microcontroller. If the speed captured by GPS is larger than with speed limit=60 and Trip2 from Kafr El - Sheikh to
50 then this speed is recorded as penalty speed on LCD Mahalla with speed limit=90.
screen, else it is valid speed as shown in Figure 7.
Figures 10, 11 shows the changes of speed along each trip. It
is noted that speeds increase in high away roads where there is
no monitoring of speeds. The proposed system can be used to
track vehicles in high away roads as there are no cameras or
traffic men, as violation is recorded in time of exceeds the
limit speeds. In addition to, this system can save full vehicle
history from locations, speeds, dates and times of vehicle
walking.
Fig 7: Speed measurements results
The history of vehicle is uploaded in website for applying in
real time environment for traffic management. NodeMCU is
ESP8266 based development board that is used to connect
with GPS module and to send data to website. The proposed
GPS Interfacing with NodeMCU is shown in Figure 8.
Fig 10: Speed violation and speed allowed of trip 1
Fig 8: GPS with NodeMCU
Figure 9 shows the WiFi connections with server for saving
the sensor data into database using TinyGPSPlus and
ESP8266WiFi libraries as declared in Arduino code.
Fig 11: Speed violation and speed allowed of trip 2
The benefits of speed tracking system for traffic department
and public security are:
 Reducing accidents when following speed limit
 Protecting vehicle from stealing as storing locations and
times of vehicle movement
 Reducing cheating during selling in-use vehicles using
full history of vehicle
 Showing the reckless behaviour of driving in inside and
highways roads.
Vehicle speed tracking system both in case of personal as well
as business purpose improves safety and security,
communication medium, performance monitoring and
increases productivity. The aim of the proposed methodology
Fig 9: Sending data to server
is generating the adequate data for arriving to right results for
secure electronic violations payment system in next sections
The sensor readings is stored in the database, so that it can be
using blockchain technology in next sections .
accessed later. There are two types of data about vehicle that
is needed to store; fixed data and varied data. Fixed data
The speed violations will be managed using Blockchain
represents information about vehicle such as vehicle no, style,
technology. The main objective of a Blockchain e-payment
chassis no, capacity, color, license start, insurance company,
system is to use a decentralized network to enhance financial
manufacturing year, motor no, license end, document no,
settlement and payments using the rapid, private, secure, and
vehicle shape, model, owner's name, address. Varied data
acceptable payment transactions. Therefore, Blockchain
represents GPS readings such as latitude, longitude , date and
technology is needed for easier and faster payments.
time. All these data are uploaded to webserver for further
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5:
MJCIS Vol.15 No.2 Dec 2019
Table 1. Trip1 from Mansoura to Mahalla (speed limit=60)
Speed Status Date Time Speed in Km/hr Longitude Latitude
Violation 2019 / 8 / 6 17:8:48 66.80 31.315643 31.030801
Violation 2019 / 8 / 6 17:8:50 66.14 31.315378 31.030557
Violation 2019 / 8 / 6 17:8:52 65.11 31.315111 31.030317
Violation 2019 / 8 / 6 17:8:54 63.89 31.314849 31.030084
Violation 2019 / 8 / 6 17:8:56 63.69 31.314594 31.029848
Violation 2019 / 8 / 6 17:8:58 63.43 31.314332 31.029619
Violation 2019 / 8 / 6 17:9:0 63.45 31.314077 31.029388
Violation 2019 / 8 / 6 17:9:2 64.19 31.313819 31.029155
Violation 2019 / 8 / 6 17:9:4 63.71 31.313560 31.028923
Violation 2019 / 8 / 6 17:9:6 62.90 31.313302 31.028694
Violation 2019 / 8 / 6 17:9:8 61.59 31.313051 31.028469
Violation 2019 / 8 / 6 17:9:10 60.69 31.312807 31.028244
Violation 2019 / 8 / 6 17:9:12 61.90 31.312559 31.028017
Violation 2019 / 8 / 6 17:9:14 62.36 31.312307 31.027788
Violation 2019 / 8 / 6 17:9:16 63.65 31.312053 31.027555
Violation 2019 / 8 / 6 17:9:18 65.71 31.311790 31.027318
Violation 2019 / 8 / 6 17:9:20 67.48 31.311519 31.027076
Violation 2019 / 8 / 6 17:9:22 68.38 31.311243 31.026826
Violation 2019 / 8 / 6 17:9:24 68.48 31.310968 31.026575
Violation 2019 / 8 / 6 17:9:26 68.37 31.310689 31.026325
Violation 2019 / 8 / 6 17:9:28 68.20 31.310411 31.026079
Violation 2019 / 8 / 6 17:9:30 67.52 31.310140 31.025829
Violation 2019 / 8 / 6 17:9:32 67.17 31.309869 31.025583
Violation 2019 / 8 / 6 17:9:34 66.60 31.309598 31.025339
Violation 2019 / 8 / 6 17:9:36 66.21 31.309331 31.025096
Violation 2019 / 8 / 6 17:9:38 66.03 31.309061 31.024856
Violation 2019 / 8 / 6 17:9:40 65.22 31.308788 31.024621
Violation 2019 / 8 / 6 17:9:42 63.74 31.308528 31.024385
Legal 2019 / 8 / 6 17:9:44 57.74 31.308284 31.024166
Legal 2019 / 8 / 6 17:9:46 52.75 31.308071 31.023963
Legal 2019 / 8 / 6 17:9:48 48.24 31.307868 31.023780
Legal 2019 / 8 / 6 17:9:50 42.48 31.307689 31.023614
Legal 2019 / 8 / 6 17:9:52 38.26 31.307525 31.023468
Legal 2019 / 8 / 6 17:9:54 32.22 31.307382 31.023342
Legal 2019 / 8 / 6 17:9:56 24.05 31.307277 31.023242
Legal 2019 / 8 / 6 17:9:58 16.68 31.307197 31.023172
Legal 2019 / 8 / 6 17:10:0 6.92 31.307159 31.023130
Legal 2019 / 8 / 6 17:10:2 2.28 31.307142 31.023118
Legal 2019 / 8 / 6 17:10:4 2.74 31.307134 31.023113
Legal 2019 / 8 / 6 17:10:6 3.81 31.307123 31.023103
Legal 2019 / 8 / 6 17:10:8 10.03 31.307090 31.023075
Legal 2019 / 8 / 6 17:10:10 13.18 31.307041 31.023027
Legal 2019 / 8 / 6 17:10:12 14.79 31.306987 31.022977
Legal 2019 / 8 / 6 17:10:14 19.02 31.306915 31.022916
Legal 2019 / 8 / 6 17:10:16 14.49 31.306840 31.022855
Legal 2019 / 8 / 6 17:10:18 9.30 31.306795 31.022817
Legal 2019 / 8 / 6 17:10:20 11.69 31.306753 31.022779
Legal 2019 / 8 / 6 17:10:22 14.38 31.306699 31.022726
Legal 2019 / 8 / 6 17:10:24 9.63 31.306653 31.022680
Legal 2019 / 8 / 6 17:10:26 4.25 31.306631 31.022655
Legal 2019 / 8 / 6 17:10:28 2.60 31.306621 31.022647
Legal 2019 / 8 / 6 17:10:30 4.57 31.306600 31.022634
Legal 2019 / 8 / 6 17:10:32 10.97 31.306570 31.022607
Legal 2019 / 8 / 6 17:10:34 16.76 31.306512 31.022554
Legal 2019 / 8 / 6 17:10:36 22.06 31.306440 31.022476
Legal 2019 / 8 / 6 17:10:38 24.95 31.306352 31.022380
Legal 2019 / 8 / 6 17:10:40 18.52 31.306276 31.022302
Legal 2019 / 8 / 6 17:10:42 11.64 31.306215 31.022249
Legal 2019 / 8 / 6 17:10:44 6.44 31.306179 31.022218
Legal 2019 / 8 / 6 17:10:46 9.22 31.306140 31.022188
Legal 2019 / 8 / 6 17:10:48 7.35 31.306110 31.022155
Legal 2019 / 8 / 6 17:10:50 5.25 31.306087 31.022129
Legal 2019 / 8 / 6 17:10:52 5.28 31.306068 31.022109
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6:
MJCIS Vol.15 No.2 Dec 2019
Table 2. Trip2 from Kafr El-Sheikh to Mahalla (speed limit=90)
Speed Status Date Time Speed in Km/hr longitude Latitude
Legal 11/8/2019 19:21:59 74.79 31.087524 31.022451
Legal 11/8/2019 19:22:1 72.66 31.087766 31.022148
Legal 11/8/2019 19:22:3 73.94 31.088039 31.021862
Legal 11/8/2019 19:22:5 74.85 31.088342 31.021593
Legal 11/8/2019 19:22:7 75.44 31.088672 31.021345
Legal 11/8/2019 19:22:9 75.01 31.089027 31.021120
Legal 11/8/2019 19:22:11 75.29 31.089399 31.020919
Legal 11/8/2019 19:22:11 75.29 0.716667 31.266666
Legal 11/8/2019 19:22:14 75.36 31.090002 31.020679
Legal 11/8/2019 19:22:16 76.96 31.090421 31.020549
Legal 11/8/2019 19:22:18 74.79 31.090848 31.020441
Legal 11/8/2019 19:22:20 71.24 31.091262 31.020364
Legal 11/8/2019 19:22:23 75.34 31.091899 31.020259
Legal 11/8/2019 19:22:25 78.27 31.092342 31.020181
Legal 11/8/2019 19:22:27 81.38 31.092802 31.020103
Legal 11/8/2019 19:22:29 84.13 31.093278 31.020021
Legal 11/8/2019 19:22:31 86.34 31.093770 31.019937
Legal 11/8/2019 19:22:34 88.93 31.094530 31.019809
Legal 11/8/2019 19:22:36 88.38 31.095041 31.019727
Legal 11/8/2019 19:22:38 87.64 31.095544 31.019647
Legal 11/8/2019 19:22:40 88.18 31.096050 31.019567
Legal 11/8/2019 19:22:42 88.84 31.096561 31.019485
Legal 11/8/2019 19:22:44 82.19 31.097051 31.019401
Legal 11/8/2019 19:22:46 70.63 31.097484 31.019330
Legal 11/8/2019 19:22:48 69.95 31.097883 31.019266
Legal 11/8/2019 19:22:50 74.37 31.098299 31.019193
Legal 11/8/2019 19:22:52 79.91 31.098745 31.019115
Legal 11/8/2019 19:22:54 84.70 31.099220 31.019031
Legal 11/8/2019 19:22:56 87.81 31.099716 31.018941
Violation 11/8/2019 19:22:58 90.76 31.100229 31.018848
Violation 11/8/2019 19:23:0 93.20 31.100759 31.018756
Violation 11/8/2019 19:23:2 95.32 31.101305 31.018665
Violation 11/8/2019 19:23:4 97.71 31.101861 31.018569
Violation 11/8/2019 19:23:6 100.02 31.102434 31.018472
Violation 11/8/2019 19:23:8 102.43 31.103019 31.018373
Violation 11/8/2019 19:23:10 104.88 31.103614 31.018270
Violation 11/8/2019 19:23:12 107.22 31.104225 31.018167
Violation 11/8/2019 19:23:14 109.20 31.104850 31.018060
Violation 11/8/2019 19:23:16 111.08 31.105485 31.017953
Violation 11/8/2019 19:23:18 110.94 31.106126 31.017845
Violation 11/8/2019 19:23:20 100.48 31.106727 31.017740
Violation 11/8/2019 19:23:22 95.60 31.107286 31.017644
Violation 11/8/2019 19:23:24 95.05 31.107831 31.017551
Violation 11/8/2019 19:23:26 97.62 31.108386 31.017457
Violation 11/8/2019 19:23:28 97.59 31.108951 31.017360
Violation 11/8/2019 19:23:30 94.03 31.109500 31.017269
Violation 11/8/2019 19:23:32 90.85 31.110031 31.017177
Legal 11/8/2019 19:23:34 85.99 31.110538 31.017093
Legal 11/8/2019 19:23:36 81.38 31.111015 31.017013
Legal 11/8/2019 19:23:38 80.50 31.111478 31.016935
Legal 11/8/2019 19:23:40 80.43 31.111940 31.016855
Legal 11/8/2019 19:23:42 82.95 31.112409 31.016778
Legal 11/8/2019 19:23:44 86.17 31.112899 31.016698
Legal 11/8/2019 19:23:46 89.17 31.113405 31.016616
Violation 11/8/2019 19:23:48 92.26 31.113929 31.016529
Violation 11/8/2019 19:23:50 95.03 31.114467 31.016443
Violation 11/8/2019 19:23:52 97.46 31.115022 31.016351
Violation 11/8/2019 19:23:54 98.76 31.115589 31.016256
Violation 11/8/2019 19:23:56 98.32 31.116155 31.016162
Violation 11/8/2019 19:23:58 97.25 31.116718 31.016069
Violation 11/8/2019 19:24:0 94.00 31.117267 31.015977
Legal 11/8/2019 19:24:2 87.61 31.117784 31.015890
Legal 11/8/2019 19:24:4 84.86 31.118276 31.015800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7:
MJCIS Vol.15 No.2 Dec 2019
duplication and various errors of these data. In this case,
4. TECHNIQUES USED FOR TRAFFIC
important information can be without protection against
VIOLATIONS PAYMENT
frauds or even become non-traceable. In traditional system,
The proposed model is depended on two techniques; these
some persons pay money to change vehicle property papers of
techniques are Blockchain and smart contract. This paper is
other drivers or delete violations from system, so vehicle
depending on the data presented from manufacturer about
property papers and violations are stored in blockchain
basic details, and data collected by fog servers on different
network and distributed to all members on the network.
locations about traffic violations to be managed by smart
Blockchain in its role will decrease a risk of data duplication
contract on blockchain network for electronic violation
and various errors of these data like change or delete some
payment.
documents of specific drivers.
4.1 Blockchain BENEFITS. By using Blockchain, many of these issues can
DEFINITION. Blockchain technology is the backbone of the easily be solved by reducing the average response time.
technologies proposed in this paper to enable secure and Blockchain will enable manufacturers, governments, drivers
trusted sharing of traffic records across companies, to push data within a smart contract that ultimately becomes a
governments, drivers and autonomous vehicles. Blockchain single source of fixed data not immutable to all parties. Using
technology provides security of proposed system against Blockchain in vehicle registration system will help also in
hackers through its built-in encryption features, and reducing the danger of attacks and frauds, as data updates are
simultaneously creates transparency of the data history about only changeable by authorized personnel using a private key.
vehicles, owners and violations. In fact, any tampering of data can also be easily tracked on
Blockchain. Not only this, Blockchain will provide an easy
COMPOSITION. Sequence of blocks is the composition of
and single view of the vehicle history that is not available
blockchain structure; these blocks are linked together by their
[19].
hash values. Hash of the previous block, set of transactions
and proof-of-work are contents of the block. The random In this paper, Fog mining is introduced by using fog servers to
value found by the miners is behind the term 'proof-of-work' confirm transactions related to violations of vehicles.
when hashing the block contents is compared with many such violations are saved for long time in distributed ledger for
random values to achieve the cryptographic hash of block further access in punishing violations offenders or for vehicle
[16]. The blockchain composition is shown in Figure 12. transfer, buying and selling. The goal of fog computing is to
boost efficiency and cut back the quantity of data required for
analysis, processing and storage that has to be transported to
the Blockchain. A service provider deploys local data centers Block 1 Block 2 Block 3
and servers at the edge of networks in different locations to
store violations
Hash -
Hash- Hash-
These are many forms of violations such as clashes in traffic Previous Previous Previous
junctions, one-way driving, rush driving, drunken driving, hit 1 1
1
&amp; run cases, papers lack, pedestrian driving, speeding exceed
Transaction Transaction Transaction
etc. Some violations are handled by traffic officers and other
violations by cameras and sensors. For example, sensors are
Transaction Transaction Transaction
used for speeding exceed violations. Traffic officers record
papers lack violations and traffic junctions, one-way driving,
rush driving, drunken driving, hit &amp; run cases and speeding
exceed violations. Cameras are used to verify violations Proof - of -
Proof - of - Proof - of -
handled by traffic officers except papers lack which listed
Work1 Work2 Work3
only by officers.
4.2 Smart Contract
Fig 12: Blockchain composition
Smart contracts are agreements between participants without a
This structure is coded by java script in section 6 with simple third party. Each transaction about adding new information or
example of violation payment between driver and traffic executing specific functions are called contracts. These
department without third party. contracts contain agreed processes such as payment request as
violation penalty, pay it and accept payment with reliable
HASH FUNCTION. A hash function is one of the
electronic invoice depending on available balance in driver's
mathematical functions. It is used to convert input of letters
wallet. These processes are coded inside smart contract.
and numbers into an encrypted output in a fixed length. Hash
function has many types , the most common one is called To activate this contract, vehicle owner should display his
SHA-256 which stands for Secure Hash Algorithm – 256 bit. balance to check if it is enough for violations payment or not.
This type is used in this paper. To replace the need for a Then this contract will distribute to all nodes on the
trusted third party, a hashes of block in an interdependent Blockchain network and no one can Tamper with his balance,
sequence is the solution. Duplicate a hash is nearly impossible add or delete violation. This copy of contract contains address
by using the SHA-256 function because there are too many of vehicle owner, vehicle id and contract rules.
combinations of
Miners are responsible for verifying vehicle life history for
2^256 probabilities to try and process[17]. The details of hash
traffic violations. The miners are traffic department for
function is described in [18].
irregularities, driver wallet for verification of the balance of
TRADITIONAL WAYS. The process of vehicles and owners
vehicle owner, and customers and other owners on network.
data registration has always been very tiring, time consuming
since multiple parties are involved, and it causes a risk of data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8:
MJCIS Vol.15 No.2 Dec 2019
Those miners can confirm each transaction and ensure each Transaction is represented as a payment record or a request
partner is responsible for his individual roles in the overall about traffic violation. Blockchain and smart contract
transaction of traffic violation for preventing disputes in the
technologies are used for preventing disputes and making
Blockchain network.
certain that individual roles of each partner is under control in
The smart contracts are saved on Blockchain as a contract the overall transaction in order to verify these transactions.
address (ID) that is impossible to change by hackers across all
people in network. The contracts are distributed to all nodes This combination of Blockchain and smart contract
on the Blockchain network and no one can change or access
technologies permits secure and transparent tracking of traffic
balance of drivers as each driver has fake name and no one
violations' transactions between drivers and government
know his private information, each transaction is rejected o
partners. This dramatically reduces delays, costs, and human
accepted according to the verification from miners on the
errors in data registration.
network .
5. FRAMEWORK of the PROPOSED In the proposed framework, the basic details like vehicle
model, name, color are stored on a Blockchain by
TRAFFIC VIOLATIONS MODEL
manufacturing companies. After that, the vehicle owners ask
In this paper, Fog computing is used for saving database of
for their violations which are stored as transactions in the
speeds that are standard for all drivers to follow. There are
Blockchain embedded within the smart contract and needed to
many types to detect violation. Violations can be detected by
be verified by all miners on the Blockchain. The miners of the
cameras, or traffic men or using IOT devices. There are fog
Blockchain embedded within the smart contract is responsible
servers in different location; traffic signal, junctions,
for confirming or rejecting the transactions of violation
roundabouts, highways, and any other locations that vehicle
payment. The contract acknowledges that the traffic
may go. In the case of congested area with thousands of cars,
department has the right to withdraw the fine from the driver's
cloud servers can be used rather than fog servers.
wallet in the event of a violation of the allowed speed limits.
Cameras and sensors are IOT elements which check the What if there is no balance in drivers account? His driving
vehicles speeds and violations are stored on the distributed licence could be withdrawn as a part of the smart contract.
blockchain. Sensors are used to register vehicles speed. And
Blockchain in the proposed framework contains information
cameras are used for signs, accidents and speed violations.
about all partners on the network including vehicles, owners
Traffic officer in streets is responsible for vehicle property
and their wallets and any one on the network, in addition to
papers violations. All data violations from sensors or cameras
records the information about each transaction between
and officers are collected, classified as violations or not and
drivers and traffic department. The following steps are taken
then send to the blockchain network to prevent these data
into consideration in the process of paying traffic violations in
from duplication or various errors.
the proposed framework:
Blockchain is used to record the traffic violations, which are
-A vehicle owner wants to request or pay his vehicle's
captured by cameras or officers and compared with standard
violations as there is driver's wallet which deals with digital
speeds in by fog servers in different locations. Blockchain is
currencies only, and this is presented as a first transaction.
considered the backbone technology used in the framework to
enable secure and trusted sharing of traffic violations records -The transaction is distributed online as a new 'block'.
between traffic departments, government and vehicle owners.
-The block is broadcasted to every device in the network.
Smart contracts are used as the agreements between partners
-The transaction is checked for validation from those miners
on the blockchin network. The smart contract is responsible
in the network.
for validation of transactions. Each transaction need to be
verificied by the miners on Blockchain. In the proposed -The block is added to the Blockchain by creating a hash that
depend on the information of the transaction, time block
framework, the miners are traffic department to print
created and previous block hash.
violations list and driver wallet to check and accept the value
of violation from its owners. -The violation certificate is modified after payment and
broadcasting the new transaction.
Create the block Broadcast request Request paying violation
2 3 1
Owner Blockchain
Add transaction to Blockchain Transfer balance or reject
Check validation
4 5 6
transaction
Timestamp
Previous hash
Hash
Fig 13: Framework of traffic violation management system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9:
MJCIS Vol.15 No.2 Dec 2019
Figure 13 shows that there are a vehicle owner who ask the
Blockchain system for violation payment. The owner starts to
create a block with some information about the transaction,
the time that block is created and the previous and current
hash. Then, block is added to a Blockchain after check
validation from all other devices in the same network and
reply to the owner with the modified violation certificate by
accepting payment or rejecting transactions. Each owner will
Fig 14: User wallets
have a wallet that contain real name and fake name that is
appeared to the other people on the network. Owners store
Each vehicle owner has two accounts for their balance; one is
their information with fake name; vehicle information is
driver's wallet and another is in traffic department.
stored by manufacturer in one ledger seen by all people
accessing the system. If any documents from traffic department like violations on
the vehicle and its related information like basic data stored
Each transaction on the Blockchain network pass by two
by manufacturer or other documents are needed, the traffic
steps: First, to be validated by other miners on the network
department should transfer these documents by transaction
and then accept or reject, then new records will be sorted with
from vehicle owner. The system checks the balance of the
the accepted transactions. Therefore, we can say that there is
owners from his wallet and other miners on the network
amount of money that is deposited before the start of the sale
ensure if the owner has the enough balance in driver's wallet
process to ensure the credibility; vehicle owner who makes
of paying the violations as specified by the traffic department,
invalid transactions loses the money.
the transaction is accepted and Blockchain starts to create a
This paper depends on two transaction. The first one when new block and add it to the Blockchain to ensure
owner request to know if he has violations on his car or not. security.Figure 15 shows block creation by a violation owner
The transaction are broadcasted to all devices on the network and accepting transaction.
and the miners will check if vehicle's owner has violations or
not by the help of full history provided by traffic department
to blockchain network. These violations are collected by
cameras and traffic men as mentioned in section 3. The
receipt with violation whether there are violations or not is
sent to the network and is available to all users. This
transaction is saved on the Blockchain that could be used for
Fig 15: Accepting transaction
the second transaction of violation payment. The second
When the transaction of ckecking balance is accepted, the
transaction is when owner send transaction that he want to pay
system creates the block and hashes it by using the
his violation.
information of transaction and previous hash, then the traffic
All persons on the Blockchain network around the world department starts to reply with the modified violation
check the ledger if this owner has enough balance or not by certificate by accepting value of violation and deleting
the help of driver's wallet of his fake name, if he hasn't the violation. Figure 16 shows the traffic department’s reply with
enough balance then the transaction is rejected and this owner violation value to be payed from bank to traffic department.
who make the false transaction will be penalized by paying
fees to persons who access the transaction. If the owners has
already the enough balance, people across network will Fig 16: Transaction of violation value
confirm the transaction and accept payment from driver's
wallet to traffic department. The owner balance will be When the balance of owners accounts on his wallet and traffic
reduced and the violation will be deleted. The violation department is checked, the owners’s balance on driver's wallet
certificate will be modified as a new transaction and this must be decreased with the balance in driver's wallet and the
transaction is stored on Blockchain for further processes. owners’s balance on traffic department must be increased by
the same amount. Figure 17 shows the users wallets.
6. EXPERIMENTS AND RESULTS
In this section, the proposed violation payment system based
on Blockchain has been validated using a simple simulation
written by java script programming language using visual
studio program.
In this simulation, the parameters used in the proposed Fig 17: User wallets after applying transaction
violation payment system are four parameters. These
parameters are address of traffic department, address of bank, Assuming that the amount of violation fees is 100 pound so
balance of driver on traffic department, balance of driver on the balance of owner’s wallet on traffic department is
bank. Every system user has a wallet which contains the increased by 100 pounds and becomes 11000 pounds because
address and the balance of each driver. The two basic partners his wallet had 10000 pound before the transaction. And the
on the network are the driver's wallet and traffic department. balance of owner on his wallet become 49000 because it
Figure 14 is the result of our system that shows wallets of the decreases by the amount of transaction. Figure 18 shows the
system. status of the Blockchain.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10:
MJCIS Vol.15 No.2 Dec 2019
The system checks the Blockchain after some time if any
change is made to it. Transactions are usually settled in just a
few seconds, leaving an immutable, transparent record for
both bank and traffic department. In the proposed system,
Blockchain create a new block as frequently as every 10
minutes. The 10 minute window is just an average which is
taken to mine a block as the hashing algorithm used in the
proposed system is SHA-256 like Bitcoin that takes10
minutes. Figure 20 shows the reply of the system if there is an
error.
Fig 20: Checking block information
The Blockchain is hard to hack because it is decentralized so
Fig 18: Blockchain status
the hacker must change all the ledgers to hack the Blockchain
The first block is called genesis block and don't have any and for a large number of blocks that it's even harder to hack
transaction but it is used to create the hash of the second block or change.
Every block has the transaction from driver's wallet to traffic
Also, the hash of the new block is produced with the
department by the vehicle owners and from department to
transaction information and the hash starts with fixed number
driver's wallet. If the driver's wallet hasn't the enough balance
of zeros that is difficult to get any information, so the data is
in his wallet, the transaction becomes a pending and block and
secured. Certain amount of transactions are reordered in one
hash aren’t created. Figure 19 shows the pending transaction.
block and this block will be connected to next and previous
blocks to prevent manipulation and falsification of records.
Each transaction can be tracked through previous blocks
stored and distributed in the network which ensure security.
Without full traffic history, drivers could waste money and
time in searching and verifying violation like patients who
waste time and money on tests they don’t need or be unable to
get the best treatment. The full traffic history for each driver is
provided by blockchain and accessed by smart contract on
blockchain technology for payment or just Inquiry.
Table 3 contains a comparison between some types of e-
payments methods and features of blockchain technology for
these methods as an evaluation of the proposed technology.
Fig 19: Pending transaction
Table 3. Types of e-Payment methods and Blockchain features
Definition Distributed Cost Decentralized Data theft Enhanced
Ledger Network &amp; Security
Corruption
Institution settles transactions
Extra Fees
between the buyer’s bank and the Not
Electronic checks for third Unavailable High Supported
seller’s bank in the form of electronic Supported
party
checks using digital signature.
Buying goods and services with a Extra Fees
Not
Credit cards credit line and the amount will be for third Unavailable High Supported
Supported
settled at a later date. party
The transaction amount is deducted Extra Fees
Not
Debit cards directly from the cardholder's bank for third Unavailable High Supported
Supported
account upon authorization. party
Customers use it for a specified
Extra Fees
amount by making an entry of the Not
Pre-paid card for third Unavailable High Supported
unique card number on merchant Supported
party
sites.
transactions are settled via the
Electronic cash exchange of electronic currency, No third
Supported Available Low Supported
need to purchase at points of sale party
(Bitcoin)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11:
MJCIS Vol.15 No.2 Dec 2019
Conference on Artificial Intelligence and Soft
7. CONCLUSIONS
computing, Medina, KSA, 2017.
Our search can focus on the validation of factors that can
[7] Kristin Houser, "Blockchain is ready to transform
contribute to the successful adoption of electronic payment
personal transportation," Futurism, 2018, [Available:
methods around the world such as achieving trust and security
https://futurism.com/cars-Blockchain-six-ways/ ],
of violations payment using blockchain technology. In this
[Accessed: 28/ 4/ 2019, 10:15 PM].
paper, we proposed a speed violation detection system using
GPS, GSM, Arduino devices as speed is one of the violations [8] Oberlandesgericht, "Recordings used basically to
that needs to be detected for electronic payment in prosecute serious traffic offenses," Higher Regional
Blockchain. Court, Stuttgart, 2016, [Available: www.olgstuttgart.de ],
[Accessed: 29 /11/ 2018, 1:00 AM].
The proposed model aims to increase efficiency of electronic
[9] B. Gipp et al., “Securing Video Integrity Using
violation payment system using Blockchain technology with
Decentralized Trusted Timestamping on the
mitigation from fraud risk of traditional payment by hackers.
Blockchain”, in Proceedings of the 10th Mediterranean
The efficiency of the proposed automated violation payment
Conference on Information Systems (MCIS), Paphos,
depends on the time and cost that can be consumed by the
Zypern, 2016.
drivers on the blockchain network as there is a few fees for
miners to verify transactions rather than depending on third [10] Ali Dorri et al., "Blockchain for IoT security and
parties that consume more money in the traditional payment privacy: The case study of a smart home," EEE
systems, as the transaction are distributed to all nodes on International Conference on Pervasive Computing and
Blockchain network and any hacker should access all Communications Workshops, Kona, HI, USA, 2017.
computers of all partners on the network . The presented
[11] G. Hardeman et al., “Replacing paper contracts with
technology guarantees the features of blockchain such as trust,
ethereum smart contracts," Semantic Scholar, 2016,
security, distributed ledger, lower cost of the third party that
[Available:
are not found in the other methods.
https:// www.semanticscholar.org/paper/Replacing - Paper -
Contracts - With - Ethereum - Smart -
Future Work
Hardeman/24f74dd678bcac203d8bb0687f60e03e6222c4
The proposed model can be used also for insurance
55 ] , [Accessed: 8 /12/ 2018 , 11:10 PM ] .
companies in the case of accidents, also for transferring the
[12] T. Sultan et al., "Fog Computing-Based Model for
fine to the judgement in case of refusal of violation
Mitigation of Traffic Congestion," International Journal
payment. Driver behavior can be analyzed from the
of Simulation: Systems, Science &amp; Technology, vol. 19,
proposed vehicle tracking system of this paper.
no. 3, 2018.
The idea of registering traffic violation using consensus
[13] Emily Su, "Top 5 most compelling use cases for
public people in the street at any time is proposed as a future
Blockchain technology", Medium, [Available:
work. As violation can be recorded using mobile
https://medium.com/bitfwd/top-5-most-compelling-use-
applications, then the violation is verified by rapid response cases-for-Blockchain-technology-d198e500e3d3 ],
of police to the place of violation or by GPS satellite. [Accessed: 29 6/ 2018].
[14] N. Narkhede, " Blockchain: Control Un-Noticed Traffic
REFERENCES Violations with Help of Blockchain," Mphasis, 2018,
[Available: https://www.mphasis.com/home/thought-
[1] P.Wiedmann et al., "IoT powered by Blockchain," leadership/blog/blockchain-control-un-noticed-traffic-
Deloitte, 2018, [Available: violations-with-help-of-blockchain.html], [Accessed: 19
https://www2.deloitte.com/content/dam/Deloitte/de/Docu /11/ 2018, 12:10 PM].
ments/Innovation/IoT-powered-by-Blockchain-
[15] V. Osetskyi, "What Is Smart Contracts Blockchain and
Deloitte.pdf] [Accessed 1/3/2019, 11:20 PM].
Its Use Cases in Business," DZone, 2018, [Available:
[2] L. Fortney, "Blockchain Explained," Investopedia, 2019, https://dzone.com/articles/what-is-smart-contracts-
[Available: blockchain-and-its-use-cas-1], [Accessed: 23 /5 / 2018,
https://www.investopedia.com/terms/b/Blockchain.asp#i 3:10 PM].
xzz5DyJN7WHE] [Accessed : 11/4/2019, 1:00 AM].
[16] D. Puthal et al., "The Blockchain as A Decentralized
[3] A. Rosic, "What is Blockchain Technology? A Step-by- Security Framework," IEEE Consumer Electronics
Step Guide For Beginners," Blockgeeks, 2017, Magazine, vol. 7, no. 2, pp. 18-21, 2018.
[Available: https://blockgeeks.com/guides/what-is-
[17] Emily Kotow, " What is Blockchain Hashing?,"
Blockchain-technology/] [Accessed : 24 /4/ 2019, 4:15].
HEDGETRADE, 2019, [Available:
[4] J. Frankenfield, "Blockchain Wallet," Investopedia, https://hedgetrade.com/what-is-blockchain-hashing/ ],
2018, [Available: [Accessed 20/7/2019, 2:50 PM].
https://www.investopedia.com/terms/b/Blockchain-
[18] C. Veness, "SHA-256 Cryptographic Hash Algorithm,"
wallet.asp#ixzz5DyFWFDJs] [Accessed: 28 /3/ 2019, 10:
Movable Type Scripts, 2019, [ Available:
40 PM].
https://www.movable-type.co.uk/scripts/sha256.html ],
[5] Yong and Wang, "Towards Blockchain-based Intelligent [Accessed: 22/7/2019, 12:30 PM].
Transportation Systems," IEEE 19th International
[19] A. Sidhu, "Blockchain Technology to Streamline the
Conference on Intelligent Transportation Systems
Vehicle Registration Process," TOTHENEW, 2018,
(ITSC], Brazil, 2016.
[Available: http://www.tothenew.com/blog/Blockchain-
[6] Maher and Aad, " Blockchain Based Smart Contracts : A technology-to-streamline-the-vehicle-registration-
Systematic Mapping Study," 3rd International process/], [Accessed: 19 Nov 2018].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MJCIS_Volume 15_Issue 2_Pages 45-55</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MJCIS_Volume 15_Issue 2_Pages 45-55.pdf  |  Page 1 of 11</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MJCIS_Volume 15_Issue 2_Pages 45-55.pdf  |  Page 2 of 11</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MJCIS_Volume 15_Issue 2_Pages 45-55.pdf  |  Page 3 of 11</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MJCIS_Volume 15_Issue 2_Pages 45-55.pdf  |  Page 4 of 11</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MJCIS_Volume 15_Issue 2_Pages 45-55.pdf  |  Page 5 of 11</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MJCIS_Volume 15_Issue 2_Pages 45-55.pdf  |  Page 6 of 11</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MJCIS_Volume 15_Issue 2_Pages 45-55.pdf  |  Page 7 of 11</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MJCIS_Volume 15_Issue 2_Pages 45-55.pdf  |  Page 8 of 11</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MJCIS_Volume 15_Issue 2_Pages 45-55.pdf  |  Page 9 of 11</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MJCIS_Volume 15_Issue 2_Pages 45-55.pdf  |  Page 10 of 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MJCIS_Volume 15_Issue 2_Pages 45-55.pdf  |  Page 11 of 11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MJCIS_Volume 15_Issue 2_Pages 45-55</dc:title>
  <dc:subject>Converted learning material</dc:subject>
  <dc:creator>Multimedia Learning</dc:creator>
  <cp:lastModifiedBy>Multimedia Learning</cp:lastModifiedBy>
  <cp:revision>1</cp:revision>
  <dcterms:created xsi:type="dcterms:W3CDTF">2026-09-04T02:29:29Z</dcterms:created>
  <dcterms:modified xsi:type="dcterms:W3CDTF">2026-09-04T02:29:29Z</dcterms:modified>
</cp:coreProperties>
</file>